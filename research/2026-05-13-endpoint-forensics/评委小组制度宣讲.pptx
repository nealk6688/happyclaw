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4D8C"/>
                </a:solidFill>
                <a:latin typeface="Microsoft YaHei"/>
              </a:rPr>
              <a:t>什么是评委小组？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457200" cy="54864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3B6EAF"/>
                </a:solidFill>
                <a:latin typeface="Microsoft YaHei"/>
              </a:rPr>
              <a:t>PAGE 01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713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A6A"/>
                </a:solidFill>
                <a:latin typeface="Microsoft YaHei"/>
              </a:rPr>
              <a:t>BPO 评委制度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37960"/>
            <a:ext cx="10972800" cy="6350"/>
          </a:xfrm>
          <a:prstGeom prst="rect">
            <a:avLst/>
          </a:prstGeom>
          <a:solidFill>
            <a:srgbClr val="E0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Microsoft YaHei"/>
              </a:rPr>
              <a:t>BPO 招标采购 · 评委小组规范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087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08760"/>
            <a:ext cx="5486400" cy="4572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819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01  评委库定义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Microsoft YaHei"/>
              </a:rPr>
              <a:t>由在职正式员工组成的专业评审团队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4A5A6A"/>
                </a:solidFill>
                <a:latin typeface="Microsoft YaHei"/>
              </a:rPr>
              <a:t>需通过统一培训和认证，具备相关领域专业知识与实践经验，负责 BPO 需求评审工作。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4A5A6A"/>
                </a:solidFill>
                <a:latin typeface="Microsoft YaHei"/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E87A2C"/>
                </a:solidFill>
                <a:latin typeface="Microsoft YaHei"/>
              </a:rPr>
              <a:t>▎ 核心价值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通过统一的评委准入标准和认证机制，确保评审过程：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3B6EAF"/>
                </a:solidFill>
                <a:latin typeface="Microsoft YaHei"/>
              </a:rPr>
              <a:t>  ✓  公开透明　·　公平公正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3B6EAF"/>
                </a:solidFill>
                <a:latin typeface="Microsoft YaHei"/>
              </a:rPr>
              <a:t>  ✓  信息保密　·　利益冲突可控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4A5A6A"/>
                </a:solidFill>
                <a:latin typeface="Microsoft YaHe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从源头降低围标、串标等舞弊风险。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08760"/>
            <a:ext cx="5486400" cy="457200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819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02  评委资质要求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945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4D8C"/>
                </a:solidFill>
                <a:latin typeface="Microsoft YaHei"/>
              </a:rPr>
              <a:t>▎ 基本条件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56032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•  在职在岗正式员工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•  实习生、外部人员除外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 具有良好的职业道德和操守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023360"/>
            <a:ext cx="4754880" cy="9525"/>
          </a:xfrm>
          <a:prstGeom prst="rect">
            <a:avLst/>
          </a:prstGeom>
          <a:solidFill>
            <a:srgbClr val="E0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4D8C"/>
                </a:solidFill>
                <a:latin typeface="Microsoft YaHei"/>
              </a:rPr>
              <a:t>▎ 专业能力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52628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•  具有相关领域专业知识与实践经验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•  熟悉招采项目的技术要求及市场情况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C3E50"/>
                </a:solidFill>
                <a:latin typeface="Microsoft YaHei"/>
              </a:rPr>
              <a:t>•  恪守公正原则，与参评方无利害关系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4D8C"/>
                </a:solidFill>
                <a:latin typeface="Microsoft YaHei"/>
              </a:rPr>
              <a:t>评委入库流程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457200" cy="54864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3B6EAF"/>
                </a:solidFill>
                <a:latin typeface="Microsoft YaHei"/>
              </a:rPr>
              <a:t>PAGE 02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713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A6A"/>
                </a:solidFill>
                <a:latin typeface="Microsoft YaHei"/>
              </a:rPr>
              <a:t>BPO 评委制度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37960"/>
            <a:ext cx="10972800" cy="6350"/>
          </a:xfrm>
          <a:prstGeom prst="rect">
            <a:avLst/>
          </a:prstGeom>
          <a:solidFill>
            <a:srgbClr val="E0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Microsoft YaHei"/>
              </a:rPr>
              <a:t>BPO 招标采购 · 评委小组规范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Microsoft YaHei"/>
              </a:rPr>
              <a:t>三种入库机制 + 认证 + 年度更新，确保库内人员有效性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8366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机制一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Microsoft YaHei"/>
              </a:rPr>
              <a:t>推荐授予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二级部门负责人推荐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→ 评委资格授予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28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828800"/>
            <a:ext cx="3657600" cy="411480"/>
          </a:xfrm>
          <a:prstGeom prst="rect">
            <a:avLst/>
          </a:prstGeom>
          <a:solidFill>
            <a:srgbClr val="3B6E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88366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机制二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423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Microsoft YaHei"/>
              </a:rPr>
              <a:t>自动授予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三级部门负责人及以上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→ 自动授予评委资格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3657600" cy="411480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88366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机制三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423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Microsoft YaHei"/>
              </a:rPr>
              <a:t>项目推荐 + 考试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每场招选前业务推荐名单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→ 三级部门负责人确认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→ 参加认证考试入库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976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297680"/>
            <a:ext cx="137160" cy="1828800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4D8C"/>
                </a:solidFill>
                <a:latin typeface="Microsoft YaHei"/>
              </a:rPr>
              <a:t>认证机制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</a:rPr>
              <a:t>线上统一培训 + 15 道题闭卷考试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满分 100 分，需 100 分通过后方可入库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9768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297680"/>
            <a:ext cx="137160" cy="1828800"/>
          </a:xfrm>
          <a:prstGeom prst="rect">
            <a:avLst/>
          </a:prstGeom>
          <a:solidFill>
            <a:srgbClr val="3B6E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480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4D8C"/>
                </a:solidFill>
                <a:latin typeface="Microsoft YaHei"/>
              </a:rPr>
              <a:t>更新机制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93776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icrosoft YaHei"/>
              </a:rPr>
              <a:t>每年第二季度整体更新和授权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保持库内人员的有效性与活跃度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4D8C"/>
                </a:solidFill>
                <a:latin typeface="Microsoft YaHei"/>
              </a:rPr>
              <a:t>评委工作概述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457200" cy="54864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3B6EAF"/>
                </a:solidFill>
                <a:latin typeface="Microsoft YaHei"/>
              </a:rPr>
              <a:t>PAGE 03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713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A6A"/>
                </a:solidFill>
                <a:latin typeface="Microsoft YaHei"/>
              </a:rPr>
              <a:t>BPO 评委制度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37960"/>
            <a:ext cx="10972800" cy="6350"/>
          </a:xfrm>
          <a:prstGeom prst="rect">
            <a:avLst/>
          </a:prstGeom>
          <a:solidFill>
            <a:srgbClr val="E0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Microsoft YaHei"/>
              </a:rPr>
              <a:t>BPO 招标采购 · 评委小组规范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Microsoft YaHei"/>
              </a:rPr>
              <a:t>六项核心职责，覆盖技术评审、独立打分、合规执行的全过程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109728" cy="210312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4D8C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icrosoft YaHei"/>
              </a:rPr>
              <a:t>技术评审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8346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Microsoft YaHei"/>
              </a:rPr>
              <a:t>依据统一的技术评分标准进行技术评分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828800"/>
            <a:ext cx="109728" cy="2103120"/>
          </a:xfrm>
          <a:prstGeom prst="rect">
            <a:avLst/>
          </a:prstGeom>
          <a:solidFill>
            <a:srgbClr val="3B6E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0116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6EAF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icrosoft YaHei"/>
              </a:rPr>
              <a:t>独立评分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8346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Microsoft YaHei"/>
              </a:rPr>
              <a:t>严格执行"背对背打分"机制，独立给出评分和意见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828800"/>
            <a:ext cx="109728" cy="2103120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0116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7A2C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icrosoft YaHei"/>
              </a:rPr>
              <a:t>现场监督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8346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Microsoft YaHei"/>
              </a:rPr>
              <a:t>全程参与述标评审，保持专注，不得中途退出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14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114800"/>
            <a:ext cx="109728" cy="210312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2976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4D8C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icrosoft YaHei"/>
              </a:rPr>
              <a:t>材料核查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206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Microsoft YaHei"/>
              </a:rPr>
              <a:t>重点核查供应商应标材料内容，发现异常立即报告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114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4114800"/>
            <a:ext cx="109728" cy="2103120"/>
          </a:xfrm>
          <a:prstGeom prst="rect">
            <a:avLst/>
          </a:prstGeom>
          <a:solidFill>
            <a:srgbClr val="3B6E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2976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6EAF"/>
                </a:solidFill>
                <a:latin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icrosoft YaHei"/>
              </a:rPr>
              <a:t>合规执行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1206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Microsoft YaHei"/>
              </a:rPr>
              <a:t>严格遵守利益冲突回避、信息保密等原则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1148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114800"/>
            <a:ext cx="109728" cy="2103120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2976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87A2C"/>
                </a:solidFill>
                <a:latin typeface="Microsoft YaHe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Microsoft YaHei"/>
              </a:rPr>
              <a:t>评分复核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1206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Microsoft YaHei"/>
              </a:rPr>
              <a:t>配合商务管理进行评分复核，必要时提交评分修改申请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73152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4D8C"/>
                </a:solidFill>
                <a:latin typeface="Microsoft YaHei"/>
              </a:rPr>
              <a:t>评委应遵守的原则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457200" cy="54864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411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3B6EAF"/>
                </a:solidFill>
                <a:latin typeface="Microsoft YaHei"/>
              </a:rPr>
              <a:t>PAGE 04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713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A6A"/>
                </a:solidFill>
                <a:latin typeface="Microsoft YaHei"/>
              </a:rPr>
              <a:t>BPO 评委制度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37960"/>
            <a:ext cx="10972800" cy="6350"/>
          </a:xfrm>
          <a:prstGeom prst="rect">
            <a:avLst/>
          </a:prstGeom>
          <a:solidFill>
            <a:srgbClr val="E0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Microsoft YaHei"/>
              </a:rPr>
              <a:t>BPO 招标采购 · 评委小组规范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2588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25880"/>
            <a:ext cx="137160" cy="128016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4D8C"/>
                </a:solidFill>
                <a:latin typeface="Microsoft YaHei"/>
              </a:rPr>
              <a:t>▎ 基本原则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288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遵循 过程公开透明、公正公平竞争、诚实信用、性价比最优中标 的基本原则；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4A5A6A"/>
                </a:solidFill>
                <a:latin typeface="Microsoft YaHei"/>
              </a:rPr>
              <a:t>在公司基本政策规范指导下，对以下场景执行更严格的管理标准与管控措施。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36576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3657600" cy="548640"/>
          </a:xfrm>
          <a:prstGeom prst="rect">
            <a:avLst/>
          </a:prstGeom>
          <a:solidFill>
            <a:srgbClr val="1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077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利益冲突回避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3108960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开标前线上签署利益关系声明与推荐人申报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放弃签署视为自动放弃评估身份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涉密事项需另行签署保密条款 / 协议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含推荐人或利益相关人需回避（含离职不满 2 年的前雇佣关系）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向业务线负责人及内控报备，留存推荐人信息与记录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788920"/>
            <a:ext cx="36576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788920"/>
            <a:ext cx="3657600" cy="548640"/>
          </a:xfrm>
          <a:prstGeom prst="rect">
            <a:avLst/>
          </a:prstGeom>
          <a:solidFill>
            <a:srgbClr val="3B6E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9077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信息安全保密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520440"/>
            <a:ext cx="3108960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评估小组成员及列席人员，结果未确定前不得透露任何信息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包括评标人员、技术/服务评分、商务报价、供应商排名等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面对供应商或不相关人员的探听，一律不予回答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788920"/>
            <a:ext cx="36576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788920"/>
            <a:ext cx="3657600" cy="548640"/>
          </a:xfrm>
          <a:prstGeom prst="rect">
            <a:avLst/>
          </a:prstGeom>
          <a:solidFill>
            <a:srgbClr val="E8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90779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避免过度承诺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520440"/>
            <a:ext cx="3108960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•  严禁在未授权或无采购人员介入的情况下：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    —— 向供应商承诺采购额 / 采购量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4A5A6A"/>
                </a:solidFill>
                <a:latin typeface="Microsoft YaHei"/>
              </a:rPr>
              <a:t>    —— 私自与供应商签订采购合同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